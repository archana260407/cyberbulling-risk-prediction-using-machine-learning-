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82" r:id="rId10"/>
    <p:sldId id="283" r:id="rId11"/>
    <p:sldId id="264" r:id="rId12"/>
    <p:sldId id="276" r:id="rId13"/>
    <p:sldId id="277" r:id="rId14"/>
    <p:sldId id="286" r:id="rId15"/>
    <p:sldId id="275" r:id="rId16"/>
    <p:sldId id="265" r:id="rId17"/>
    <p:sldId id="285" r:id="rId18"/>
    <p:sldId id="271" r:id="rId19"/>
    <p:sldId id="272" r:id="rId20"/>
    <p:sldId id="273" r:id="rId21"/>
    <p:sldId id="274" r:id="rId22"/>
  </p:sldIdLst>
  <p:sldSz cx="12192000" cy="6858000"/>
  <p:notesSz cx="7772400" cy="10058400"/>
  <p:embeddedFontLst>
    <p:embeddedFont>
      <p:font typeface="Calibri" panose="020F0502020204030204"/>
      <p:regular r:id="rId26"/>
      <p:bold r:id="rId27"/>
      <p:italic r:id="rId28"/>
      <p:boldItalic r:id="rId29"/>
    </p:embeddedFont>
    <p:embeddedFont>
      <p:font typeface="Arial Narrow" panose="020B0606020202030204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 showGuides="1">
      <p:cViewPr varScale="1">
        <p:scale>
          <a:sx n="77" d="100"/>
          <a:sy n="77" d="100"/>
        </p:scale>
        <p:origin x="883" y="72"/>
      </p:cViewPr>
      <p:guideLst>
        <p:guide orient="horz" pos="218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94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78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8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590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1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05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1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2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0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1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0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1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0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1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0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1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6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7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75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76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7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8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9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9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2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/>
        </p:txBody>
      </p:sp>
      <p:sp>
        <p:nvSpPr>
          <p:cNvPr id="1048753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54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6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0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8771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72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4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75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76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77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7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38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39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40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41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42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9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80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82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6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048757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58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59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1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62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63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64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8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9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50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4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8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9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00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Google Shape;89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9" name="Google Shape;90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/>
        </p:txBody>
      </p:sp>
      <p:sp>
        <p:nvSpPr>
          <p:cNvPr id="1048720" name="Google Shape;91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21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871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1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2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33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34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35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5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26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27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28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29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30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9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23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04870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0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0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7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08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09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1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2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13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7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8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99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7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578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79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48580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93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94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595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6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97152" name="Google Shape;148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149;p26"/>
          <p:cNvSpPr/>
          <p:nvPr/>
        </p:nvSpPr>
        <p:spPr>
          <a:xfrm>
            <a:off x="2029618" y="414338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 RAMAKRISHNAN COLLEGE OF ENGINEERING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(AUTONOMOUS), SAMAYAPURAM – TRICHY</a:t>
            </a:r>
            <a:endParaRPr 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lvl="0" algn="ctr">
              <a:lnSpc>
                <a:spcPct val="150000"/>
              </a:lnSpc>
              <a:buSzPts val="2000"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</a:t>
            </a: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MACHINE LEARNING</a:t>
            </a:r>
            <a:endParaRPr lang="en-GB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50000"/>
              </a:lnSpc>
              <a:buSzPts val="2000"/>
            </a:pPr>
            <a:r>
              <a:rPr lang="en-GB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AMB1221</a:t>
            </a: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AND FUNDAMENTALS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53" name="Google Shape;150;p26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151;p26"/>
          <p:cNvSpPr txBox="1"/>
          <p:nvPr/>
        </p:nvSpPr>
        <p:spPr>
          <a:xfrm>
            <a:off x="1115219" y="3144997"/>
            <a:ext cx="9838531" cy="156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Risk Prediction Using Machine Learning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48588" name="Google Shape;146;p26"/>
          <p:cNvSpPr txBox="1"/>
          <p:nvPr/>
        </p:nvSpPr>
        <p:spPr>
          <a:xfrm>
            <a:off x="64135" y="4630480"/>
            <a:ext cx="11563350" cy="172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PRESENTED BY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lvl="0" algn="just">
              <a:lnSpc>
                <a:spcPct val="150000"/>
              </a:lnSpc>
              <a:buSzPts val="2400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ARCHANA RS	                                                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Mrs. </a:t>
            </a:r>
            <a:r>
              <a:rPr lang="en-GB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C.Muthuselvi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, M.E.,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8115U24AM008       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Assistant Professor / 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&amp;DS.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Google Shape;158;p27"/>
          <p:cNvSpPr txBox="1"/>
          <p:nvPr/>
        </p:nvSpPr>
        <p:spPr>
          <a:xfrm>
            <a:off x="3673475" y="151447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Project 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Problem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Stateme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endParaRPr lang="en-GB" sz="18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alt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used</a:t>
            </a:r>
            <a:endParaRPr lang="en-US" altLang="en-GB" sz="18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alt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and Proposed Comparision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Modules Used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Architecture Diagram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Google Shape;159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160;p2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166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PROJECT INTRODUCTION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8" name="Google Shape;167;p28"/>
          <p:cNvSpPr txBox="1">
            <a:spLocks noGrp="1"/>
          </p:cNvSpPr>
          <p:nvPr>
            <p:ph type="body" idx="1"/>
          </p:nvPr>
        </p:nvSpPr>
        <p:spPr>
          <a:xfrm>
            <a:off x="2209972" y="1177599"/>
            <a:ext cx="9593178" cy="420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3200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is harassment through online platforms.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3200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3200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affects users emotionally and mentally.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3200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3200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of harmful messages is difficult.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3200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SzPts val="3200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detect bullying automatically.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Google Shape;168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7" name="Google Shape;169;p28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50" y="235038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/>
          <p:cNvSpPr txBox="1">
            <a:spLocks noGrp="1"/>
          </p:cNvSpPr>
          <p:nvPr>
            <p:ph type="body" idx="1"/>
          </p:nvPr>
        </p:nvSpPr>
        <p:spPr>
          <a:xfrm>
            <a:off x="1727572" y="836011"/>
            <a:ext cx="8024354" cy="478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100000"/>
              </a:lnSpc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cyberbullying in online text messages.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Machine Learning prediction model.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text using NLP techniques.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00000"/>
              </a:lnSpc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online safety.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PROBLEM STATEMENT 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0" name="Google Shape;187;p30"/>
          <p:cNvSpPr txBox="1">
            <a:spLocks noGrp="1"/>
          </p:cNvSpPr>
          <p:nvPr>
            <p:ph type="body" idx="1"/>
          </p:nvPr>
        </p:nvSpPr>
        <p:spPr>
          <a:xfrm>
            <a:off x="1756174" y="736738"/>
            <a:ext cx="9344544" cy="48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online messages makes monitoring difficult.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causes serious mental health issues.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an automated system to detect harmful content.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alt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USED</a:t>
            </a:r>
            <a:br>
              <a:rPr lang="en-US" alt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98983" y="2354580"/>
          <a:ext cx="9245434" cy="303242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81434"/>
                <a:gridCol w="4064000"/>
              </a:tblGrid>
              <a:tr h="561716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USED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REQUIRED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61716"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Jupyter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Notebook / Google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i3 or above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617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NumPy, Scikit-learn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GB RAM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61716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 / Seaborn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/ Linux OS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8556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 learn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 for faster model training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US" alt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AND PROPOSED COMPARISION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0" name="Google Shape;187;p30"/>
          <p:cNvSpPr txBox="1">
            <a:spLocks noGrp="1"/>
          </p:cNvSpPr>
          <p:nvPr>
            <p:ph type="body" idx="1"/>
          </p:nvPr>
        </p:nvSpPr>
        <p:spPr>
          <a:xfrm>
            <a:off x="1365250" y="1538588"/>
            <a:ext cx="10018644" cy="3780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syatem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less accurate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SzPts val="32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based detection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accurate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02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MODULES USED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6" name="Google Shape;203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Google Shape;204;p32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2576014" y="1985621"/>
            <a:ext cx="7038450" cy="343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00050" lvl="0" indent="-285750" algn="just" defTabSz="914400" eaLnBrk="0" fontAlgn="base" latinLnBrk="0" hangingPunct="0">
              <a:lnSpc>
                <a:spcPct val="150000"/>
              </a:lnSpc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Data Collection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400050" lvl="0" indent="-285750" algn="just" defTabSz="914400" eaLnBrk="0" fontAlgn="base" latinLnBrk="0" hangingPunct="0">
              <a:lnSpc>
                <a:spcPct val="150000"/>
              </a:lnSpc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Data Preprocessing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400050" lvl="0" indent="-285750" algn="just" defTabSz="914400" eaLnBrk="0" fontAlgn="base" latinLnBrk="0" hangingPunct="0">
              <a:lnSpc>
                <a:spcPct val="150000"/>
              </a:lnSpc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Feature Extraction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400050" lvl="0" indent="-285750" algn="just" defTabSz="914400" eaLnBrk="0" fontAlgn="base" latinLnBrk="0" hangingPunct="0">
              <a:lnSpc>
                <a:spcPct val="150000"/>
              </a:lnSpc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Model Training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400050" lvl="0" indent="-285750" algn="just" defTabSz="914400" eaLnBrk="0" fontAlgn="base" latinLnBrk="0" hangingPunct="0">
              <a:lnSpc>
                <a:spcPct val="150000"/>
              </a:lnSpc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Prediction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400050" lvl="0" indent="-285750" algn="just" defTabSz="914400" eaLnBrk="0" fontAlgn="base" latinLnBrk="0" hangingPunct="0">
              <a:lnSpc>
                <a:spcPct val="150000"/>
              </a:lnSpc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Visualization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02;p32"/>
          <p:cNvSpPr txBox="1">
            <a:spLocks noGrp="1"/>
          </p:cNvSpPr>
          <p:nvPr>
            <p:ph type="title"/>
          </p:nvPr>
        </p:nvSpPr>
        <p:spPr>
          <a:xfrm>
            <a:off x="610350" y="6263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MODULE 1 &amp; 2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6" name="Google Shape;203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6535" y="90488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Google Shape;204;p32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90488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33335" y="1834265"/>
            <a:ext cx="8223478" cy="3565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lvl="0" indent="-342900" defTabSz="914400" eaLnBrk="0" fontAlgn="base" latinLnBrk="0" hangingPunct="0">
              <a:spcBef>
                <a:spcPts val="1425"/>
              </a:spcBef>
              <a:buSzPts val="1800"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Data Collection Module:</a:t>
            </a:r>
            <a:endParaRPr lang="en-US" altLang="en-US" sz="1800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400050" lvl="0" indent="-285750" defTabSz="914400" eaLnBrk="0" fontAlgn="base" latinLnBrk="0" hangingPunct="0"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Collects dataset containing online comments or messages.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400050" lvl="0" indent="-285750" defTabSz="914400" eaLnBrk="0" fontAlgn="base" latinLnBrk="0" hangingPunct="0"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Data can be taken from social media datasets or Kaggle.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400050" lvl="0" indent="-285750" defTabSz="914400" eaLnBrk="0" fontAlgn="base" latinLnBrk="0" hangingPunct="0"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Used as the input for training the model.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114300" lvl="0" defTabSz="914400" eaLnBrk="0" fontAlgn="base" latinLnBrk="0" hangingPunct="0">
              <a:spcBef>
                <a:spcPts val="1425"/>
              </a:spcBef>
              <a:buSzPts val="1800"/>
            </a:pP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2. Data Preprocessing Module:</a:t>
            </a:r>
            <a:endParaRPr lang="en-US" altLang="en-US" sz="1800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400050" lvl="0" indent="-285750" defTabSz="914400" eaLnBrk="0" fontAlgn="base" latinLnBrk="0" hangingPunct="0"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Removes stop words, punctuation, and unwanted characters.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400050" lvl="0" indent="-285750" defTabSz="914400" eaLnBrk="0" fontAlgn="base" latinLnBrk="0" hangingPunct="0"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Converts text into clean and usable format.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400050" lvl="0" indent="-285750" defTabSz="914400" eaLnBrk="0" fontAlgn="base" latinLnBrk="0" hangingPunct="0">
              <a:spcBef>
                <a:spcPts val="1425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Improves the accuracy of the machine learning model.</a:t>
            </a:r>
            <a:endParaRPr lang="en-US" altLang="en-US" sz="18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02;p32"/>
          <p:cNvSpPr txBox="1">
            <a:spLocks noGrp="1"/>
          </p:cNvSpPr>
          <p:nvPr>
            <p:ph type="title"/>
          </p:nvPr>
        </p:nvSpPr>
        <p:spPr>
          <a:xfrm>
            <a:off x="590550" y="10312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MODULE 3 &amp; 4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6" name="Google Shape;203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22992" y="5242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Google Shape;204;p32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79100" y="5242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51346" y="1233525"/>
            <a:ext cx="8289308" cy="410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eaLnBrk="0" fontAlgn="base" hangingPunct="0">
              <a:spcBef>
                <a:spcPts val="1425"/>
              </a:spcBef>
              <a:buSzPts val="1800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ts val="1425"/>
              </a:spcBef>
              <a:buSzPts val="1800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Feature Extraction Module: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data into numerical form.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techniques like Bag of Words or TF-IDF.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the machine learning model understand the text data.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Machine Learning Model Module: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Trains the model using classification algorithms.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like Naive Bayes, Logistic Regression, or SVM are used.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to identify bullying patterns.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02;p32"/>
          <p:cNvSpPr txBox="1">
            <a:spLocks noGrp="1"/>
          </p:cNvSpPr>
          <p:nvPr>
            <p:ph type="title"/>
          </p:nvPr>
        </p:nvSpPr>
        <p:spPr>
          <a:xfrm>
            <a:off x="590550" y="10312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MODULE 5 &amp; 6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6" name="Google Shape;203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22992" y="5242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Google Shape;204;p32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79100" y="5242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99231" y="1745718"/>
            <a:ext cx="8789469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Prediction Module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new user text input.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analyzes and classifies the message.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whether the message is Cyberbullying or Not.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Visualization Module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graphs and charts for analysis.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dataset distribution and model accuracy.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better understanding of results.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8756" y="0"/>
            <a:ext cx="5625873" cy="147002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sz="3000" b="1" dirty="0"/>
          </a:p>
        </p:txBody>
      </p:sp>
      <p:pic>
        <p:nvPicPr>
          <p:cNvPr id="5" name="Google Shape;168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9;p28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Connector 9"/>
          <p:cNvCxnSpPr/>
          <p:nvPr/>
        </p:nvCxnSpPr>
        <p:spPr>
          <a:xfrm flipH="1">
            <a:off x="4870174" y="2613991"/>
            <a:ext cx="1311965" cy="14908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6096000" y="2613991"/>
            <a:ext cx="1338470" cy="14908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546" y="1470025"/>
            <a:ext cx="749617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OUTPUT SCREENSHOTS</a:t>
            </a:r>
            <a:endParaRPr lang="en-US"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8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750550" y="235038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1" y="1414983"/>
            <a:ext cx="5908059" cy="4652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444" y="1559533"/>
            <a:ext cx="5510555" cy="4662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750550" y="274638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13" y="1416050"/>
            <a:ext cx="7020176" cy="48350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CONCLUSION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8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9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2" name="Google Shape;250;p37"/>
          <p:cNvSpPr txBox="1">
            <a:spLocks noGrp="1"/>
          </p:cNvSpPr>
          <p:nvPr>
            <p:ph type="body" idx="1"/>
          </p:nvPr>
        </p:nvSpPr>
        <p:spPr>
          <a:xfrm>
            <a:off x="2197444" y="1573212"/>
            <a:ext cx="8270187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ML helps detect cyberbullying automatically.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Improves safety on online platforms.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Machine Learning helps automatically detect cyberbullying messages.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The system can analyze large amounts of online text quickly.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It helps reduce harmful content on social media platforms.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Early detection can protect users from emotional and mental stress.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FUTURE SCOPE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0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1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235038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8" name="Google Shape;250;p37"/>
          <p:cNvSpPr txBox="1">
            <a:spLocks noGrp="1"/>
          </p:cNvSpPr>
          <p:nvPr>
            <p:ph type="body" idx="1"/>
          </p:nvPr>
        </p:nvSpPr>
        <p:spPr>
          <a:xfrm>
            <a:off x="1512271" y="1311188"/>
            <a:ext cx="8700133" cy="494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on social media.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models.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languages.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Deep Learning models.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languages for better detection.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or web application for users.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social media monitoring systems.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REFERENCES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2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3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84" name="Google Shape;250;p37"/>
          <p:cNvSpPr txBox="1">
            <a:spLocks noGrp="1"/>
          </p:cNvSpPr>
          <p:nvPr>
            <p:ph type="body" idx="1"/>
          </p:nvPr>
        </p:nvSpPr>
        <p:spPr>
          <a:xfrm>
            <a:off x="2203435" y="1271588"/>
            <a:ext cx="7783629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Cyberbullying Detection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3635</Words>
  <Application>WPS Presentation</Application>
  <PresentationFormat>Widescreen</PresentationFormat>
  <Paragraphs>171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Tahoma</vt:lpstr>
      <vt:lpstr>Arial Rounded MT Bold</vt:lpstr>
      <vt:lpstr>Arial Narrow</vt:lpstr>
      <vt:lpstr>Microsoft YaHei</vt:lpstr>
      <vt:lpstr>Arial Unicode MS</vt:lpstr>
      <vt:lpstr>Office Theme</vt:lpstr>
      <vt:lpstr>1_Office Theme</vt:lpstr>
      <vt:lpstr>PowerPoint 演示文稿</vt:lpstr>
      <vt:lpstr>PRESENTATION OVERVIEW</vt:lpstr>
      <vt:lpstr>PROJECT INTRODUCTION</vt:lpstr>
      <vt:lpstr>OBJECTIVE</vt:lpstr>
      <vt:lpstr>PROBLEM STATEMENT </vt:lpstr>
      <vt:lpstr>SOFTWARE AND HARDWARE USED </vt:lpstr>
      <vt:lpstr>EXISTING AND PROPOSED COMPARISION </vt:lpstr>
      <vt:lpstr>MODULES USED</vt:lpstr>
      <vt:lpstr>MODULE 1 &amp; 2</vt:lpstr>
      <vt:lpstr>MODULE 3 &amp; 4</vt:lpstr>
      <vt:lpstr>MODULE 5 &amp; 6</vt:lpstr>
      <vt:lpstr>ARCHITECTURE DIAGRAM </vt:lpstr>
      <vt:lpstr>OUTPUT SCREENSHOTS</vt:lpstr>
      <vt:lpstr>  OUTPUT SCREENSHOT</vt:lpstr>
      <vt:lpstr>CONCLUSION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Archana</cp:lastModifiedBy>
  <cp:revision>24</cp:revision>
  <dcterms:created xsi:type="dcterms:W3CDTF">2025-06-04T17:03:00Z</dcterms:created>
  <dcterms:modified xsi:type="dcterms:W3CDTF">2026-05-07T14:25:32Z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E221D649D8A047FB9CE9B13543091BA5_13</vt:lpwstr>
  </property>
  <property fmtid="{D5CDD505-2E9C-101B-9397-08002B2CF9AE}" pid="3" name="KSOProductBuildVer">
    <vt:lpwstr>1033-12.1.0.25862</vt:lpwstr>
  </property>
</Properties>
</file>